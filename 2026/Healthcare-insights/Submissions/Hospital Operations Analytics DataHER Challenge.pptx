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8" r:id="rId4"/>
    <p:sldId id="260" r:id="rId5"/>
    <p:sldId id="261" r:id="rId6"/>
    <p:sldId id="266" r:id="rId7"/>
    <p:sldId id="264" r:id="rId8"/>
    <p:sldId id="263" r:id="rId9"/>
    <p:sldId id="262" r:id="rId10"/>
    <p:sldId id="265" r:id="rId11"/>
    <p:sldId id="271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9"/>
    <a:srgbClr val="26A69A"/>
    <a:srgbClr val="DFFCF9"/>
    <a:srgbClr val="CCF9FC"/>
    <a:srgbClr val="F0FDFE"/>
    <a:srgbClr val="DF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33" autoAdjust="0"/>
  </p:normalViewPr>
  <p:slideViewPr>
    <p:cSldViewPr snapToGrid="0">
      <p:cViewPr varScale="1">
        <p:scale>
          <a:sx n="58" d="100"/>
          <a:sy n="58" d="100"/>
        </p:scale>
        <p:origin x="920" y="56"/>
      </p:cViewPr>
      <p:guideLst/>
    </p:cSldViewPr>
  </p:slideViewPr>
  <p:outlineViewPr>
    <p:cViewPr>
      <p:scale>
        <a:sx n="33" d="100"/>
        <a:sy n="33" d="100"/>
      </p:scale>
      <p:origin x="0" y="-2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14D33-5909-4BB5-AD74-49548DA20BAE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47280-414F-441E-BFD1-DCB6CC9B1DA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7257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2562-CEDE-AE68-33ED-58B56FC8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48C5D-FC0F-42F2-0D07-14ED3D1A4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CB255-98C4-BB86-2B31-F45CFFD25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9CD95-96D9-692E-0991-318EE1B95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47280-414F-441E-BFD1-DCB6CC9B1DAA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592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47280-414F-441E-BFD1-DCB6CC9B1DAA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7400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F1A9-5EAF-EB9C-F082-C492E2EEC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0229"/>
            <a:ext cx="9144000" cy="230818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021E4-2C28-96D8-860E-E1D7101AF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7714"/>
            <a:ext cx="9144000" cy="12300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43EDE-24A3-EFED-40D2-133BA182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D88E2-4E7F-D630-034A-0602B849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42FCB-7653-2AE6-2C3A-254FA069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3979A-34F4-B2F5-198F-DDFCD06D6EC4}"/>
              </a:ext>
            </a:extLst>
          </p:cNvPr>
          <p:cNvSpPr/>
          <p:nvPr userDrawn="1"/>
        </p:nvSpPr>
        <p:spPr>
          <a:xfrm flipV="1">
            <a:off x="0" y="3260949"/>
            <a:ext cx="12192000" cy="45719"/>
          </a:xfrm>
          <a:prstGeom prst="rect">
            <a:avLst/>
          </a:prstGeom>
          <a:solidFill>
            <a:srgbClr val="CC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5398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B6C6-4578-CC83-9A94-4DC9EC5C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5038-1751-C00C-EDAD-10FA637B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07EC1-9376-549F-F4A4-5B894C88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AFB30-455E-B559-48DF-9A05024D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7B9FA-4FC2-734F-E31C-2366036E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9743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EC62-27AF-2C0B-256F-BE03B505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C4A5D-2A10-9760-F480-0EAA12412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609AD-434B-06B3-5900-D8D6D69B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ADA63-C919-14DC-0875-B7AA4D4D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F2A30-8C4A-AF90-9CF0-59567C18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8657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4959-3F0B-D204-0344-AACE2386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0E0AA-71C6-C0D0-B377-06C1E00ED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76C0B-B493-E495-F177-977697CD5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65020-4D87-73A5-12AD-31557EED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C1173-1E50-4091-7581-09BE36E6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B26A-DEAC-61C5-AA40-5B20DF38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532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A37E-2713-5E0B-62D9-35DFAEE6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0" y="365126"/>
            <a:ext cx="9885817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A258C-6662-796F-1969-022E04FC5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D7A60-2FE6-062E-1052-630CD339A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2A6AB-A347-D2D2-5B52-8A0BF792F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4E6B5-DD2D-B166-FADF-B04C7F284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FCEA9-4974-AE40-292A-7A919BA7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D87E0D-42BF-108A-C00D-1F92BB22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F7921-D495-3912-725B-F564C846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855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1499-BB41-0A69-6B46-F7E8F3A6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39A84-CC44-BA72-0D11-A2090110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A624A-4EFB-2EC4-4366-B4D023A2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9F26E-8C12-5415-75D8-99A95A5B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759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B1235-44EC-58DB-AC32-96AB8CDA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918D0-EDF5-EA69-AE1F-6BD0A4D2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F1118-AEE1-167C-D8AE-DC311734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7725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78DE-8B36-0318-AC43-F2FE4517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CFE7-A9FF-6637-FD5C-0B512DF58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14B68-49EF-C8CA-7C3D-D0B5250DE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B2865-E157-9CF5-015B-19866DC3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DA6B6-A757-1CF1-A90E-8C3C97E1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7CDCA-EC97-CEF6-2C86-A610885F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404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FCAB-4069-6672-ED61-A6F7C436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D7050-0AF2-C13E-D666-EDBFCE4B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DE0FE-469C-2C75-39B9-D0F211787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E18CE-418C-FCC5-6852-738347BD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2C0D5-8F4D-8549-C626-914083ED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0B702-9ECF-1CF0-AD70-64509952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4808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AAA0-CD34-08F9-04D1-F1C5EA1D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E5583-5484-F14C-C3E5-038D06B24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4B382-186F-3AA8-C2D3-A92A3D31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5AD13-7211-5875-9568-FB11BABD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671C-333A-9203-0D77-22280DA9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6158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10FAF-826A-004E-4FF2-564B16C17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9B802-F6E6-9DE5-1F43-8196C09B8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4C2CC-9CEF-48B6-CA16-84115CD4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1E33B-6DA2-3342-B99F-2C5F3824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EBE5-B7EB-EA37-B58A-3C13C6A1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1705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607A-2AFA-1019-E8C9-58417B43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256" y="365125"/>
            <a:ext cx="9949543" cy="997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5275-47EB-9DA3-7CD6-B3F6A0877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41C9-6A90-2D48-3C86-24AF5054B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5664C-EBF2-426D-A136-E4F3BA5BB557}" type="datetimeFigureOut">
              <a:rPr lang="en-NG" smtClean="0"/>
              <a:t>19/09/2026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528C1-D1EE-9ABC-13FB-CAAC990F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73B8A-AF17-6A9F-FEB0-ACC32670A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1A1B-E84D-49AF-A62C-8456FFE855F6}" type="slidenum">
              <a:rPr lang="en-NG" smtClean="0"/>
              <a:t>‹#›</a:t>
            </a:fld>
            <a:endParaRPr lang="en-NG"/>
          </a:p>
        </p:txBody>
      </p:sp>
      <p:sp>
        <p:nvSpPr>
          <p:cNvPr id="8" name="Flowchart: Display 7">
            <a:extLst>
              <a:ext uri="{FF2B5EF4-FFF2-40B4-BE49-F238E27FC236}">
                <a16:creationId xmlns:a16="http://schemas.microsoft.com/office/drawing/2014/main" id="{3C9ADF0F-1364-E243-6149-03657C3F6297}"/>
              </a:ext>
            </a:extLst>
          </p:cNvPr>
          <p:cNvSpPr/>
          <p:nvPr userDrawn="1"/>
        </p:nvSpPr>
        <p:spPr>
          <a:xfrm>
            <a:off x="-239485" y="1"/>
            <a:ext cx="1338941" cy="1492468"/>
          </a:xfrm>
          <a:prstGeom prst="flowChartDisplay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23074-3F2B-65FD-894F-A9B93FA8F13A}"/>
              </a:ext>
            </a:extLst>
          </p:cNvPr>
          <p:cNvSpPr/>
          <p:nvPr userDrawn="1"/>
        </p:nvSpPr>
        <p:spPr>
          <a:xfrm>
            <a:off x="0" y="6640286"/>
            <a:ext cx="12192000" cy="21771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6" name="Diagonal Stripe 15">
            <a:extLst>
              <a:ext uri="{FF2B5EF4-FFF2-40B4-BE49-F238E27FC236}">
                <a16:creationId xmlns:a16="http://schemas.microsoft.com/office/drawing/2014/main" id="{54B54A52-93B6-DA9B-24FE-4826D05B841A}"/>
              </a:ext>
            </a:extLst>
          </p:cNvPr>
          <p:cNvSpPr/>
          <p:nvPr userDrawn="1"/>
        </p:nvSpPr>
        <p:spPr>
          <a:xfrm rot="9770631" flipV="1">
            <a:off x="9293196" y="6412245"/>
            <a:ext cx="2830286" cy="891502"/>
          </a:xfrm>
          <a:prstGeom prst="diagStripe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D72FC3-5589-0281-C84C-32542E65612F}"/>
              </a:ext>
            </a:extLst>
          </p:cNvPr>
          <p:cNvSpPr/>
          <p:nvPr userDrawn="1"/>
        </p:nvSpPr>
        <p:spPr>
          <a:xfrm>
            <a:off x="10646229" y="6442068"/>
            <a:ext cx="1545772" cy="4159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32853C-816C-3016-06D9-FEB9A7A2AE02}"/>
              </a:ext>
            </a:extLst>
          </p:cNvPr>
          <p:cNvSpPr/>
          <p:nvPr userDrawn="1"/>
        </p:nvSpPr>
        <p:spPr>
          <a:xfrm>
            <a:off x="838200" y="1448925"/>
            <a:ext cx="11353800" cy="45719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1569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rgbClr val="26A6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1E5C-857A-247E-F391-EFB2D5B35F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b="1" dirty="0"/>
              <a:t>Hospital Operations and Patient Flow Analytics</a:t>
            </a:r>
            <a:endParaRPr lang="en-NG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23EFA-2D57-3D35-F9D7-DF81557544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Presented by: Victoria Ademijube</a:t>
            </a:r>
          </a:p>
          <a:p>
            <a:r>
              <a:rPr lang="en-GB" sz="3200" dirty="0" err="1"/>
              <a:t>DataHer</a:t>
            </a:r>
            <a:r>
              <a:rPr lang="en-GB" sz="3200" dirty="0"/>
              <a:t> Analytics Challenge</a:t>
            </a:r>
            <a:endParaRPr lang="en-NG" sz="3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C4DC17-0561-9E99-ACEE-AC2D84B10C13}"/>
              </a:ext>
            </a:extLst>
          </p:cNvPr>
          <p:cNvSpPr/>
          <p:nvPr/>
        </p:nvSpPr>
        <p:spPr>
          <a:xfrm>
            <a:off x="10278319" y="-201800"/>
            <a:ext cx="2465409" cy="2609334"/>
          </a:xfrm>
          <a:prstGeom prst="ellipse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C4B8E4-B800-CA25-4240-D42165AF5D0E}"/>
              </a:ext>
            </a:extLst>
          </p:cNvPr>
          <p:cNvSpPr/>
          <p:nvPr/>
        </p:nvSpPr>
        <p:spPr>
          <a:xfrm>
            <a:off x="10940006" y="5257800"/>
            <a:ext cx="1678329" cy="1666754"/>
          </a:xfrm>
          <a:prstGeom prst="ellipse">
            <a:avLst/>
          </a:prstGeom>
          <a:solidFill>
            <a:srgbClr val="F7FA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4032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285D-FAE2-48D6-CC9D-741E213C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161E-F549-3CE2-6344-B607B788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Questions</a:t>
            </a:r>
            <a:endParaRPr lang="en-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F31927-2CAB-8695-1016-BD60F2FAD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are waiting times increasing?</a:t>
            </a:r>
          </a:p>
          <a:p>
            <a:r>
              <a:rPr lang="en-GB" dirty="0"/>
              <a:t>Which departments experience the longest delays?</a:t>
            </a:r>
          </a:p>
          <a:p>
            <a:r>
              <a:rPr lang="en-GB" dirty="0"/>
              <a:t>Which days are busiest?</a:t>
            </a:r>
          </a:p>
          <a:p>
            <a:r>
              <a:rPr lang="en-GB" dirty="0"/>
              <a:t>Are more doctors needed?</a:t>
            </a:r>
          </a:p>
          <a:p>
            <a:r>
              <a:rPr lang="en-GB" dirty="0"/>
              <a:t>Which patients wait the longest?</a:t>
            </a:r>
          </a:p>
          <a:p>
            <a:r>
              <a:rPr lang="en-GB" dirty="0"/>
              <a:t>Which departments receive the poorest feedback?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03438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4D8E-E63F-FAFE-3E8E-BD509CBC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Methodology</a:t>
            </a:r>
            <a:endParaRPr lang="en-N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535D07-E80D-6D31-AB86-4C1C1429F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Tools Used:</a:t>
            </a:r>
            <a:endParaRPr lang="en-NG" b="1" dirty="0"/>
          </a:p>
          <a:p>
            <a:r>
              <a:rPr lang="en-GB" dirty="0"/>
              <a:t>Excel/Power query – data cleaning</a:t>
            </a:r>
          </a:p>
          <a:p>
            <a:r>
              <a:rPr lang="en-GB" dirty="0"/>
              <a:t>Power BI – data analytics/visualization</a:t>
            </a:r>
          </a:p>
          <a:p>
            <a:r>
              <a:rPr lang="en-GB" dirty="0"/>
              <a:t>Chat GPT- troubleshooting, brainstorming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48320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778397" y="227616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rPr dirty="0"/>
              <a:t>501</a:t>
            </a:r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rPr dirty="0"/>
              <a:t>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7437" y="227616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t>2,000</a:t>
            </a:r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t>APPOINTMENTS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6476" y="227616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t>25</a:t>
            </a:r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t>DOCTORS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8397" y="428784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rPr lang="en-GB" dirty="0"/>
              <a:t>21 Mins</a:t>
            </a:r>
            <a:endParaRPr dirty="0"/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rPr dirty="0"/>
              <a:t>AVG</a:t>
            </a:r>
            <a:r>
              <a:rPr lang="en-GB" dirty="0"/>
              <a:t>ERAGE</a:t>
            </a:r>
            <a:r>
              <a:rPr dirty="0"/>
              <a:t> WAIT</a:t>
            </a:r>
            <a:r>
              <a:rPr lang="en-GB" dirty="0"/>
              <a:t> TIME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527437" y="428784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rPr lang="en-GB" dirty="0"/>
              <a:t>3.0</a:t>
            </a:r>
            <a:endParaRPr dirty="0"/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rPr lang="en-GB" dirty="0"/>
              <a:t>AVERAGE RATING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276476" y="4287842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43047"/>
                </a:solidFill>
              </a:defRPr>
            </a:pPr>
            <a:r>
              <a:rPr lang="en-GB" dirty="0"/>
              <a:t>40 Mins</a:t>
            </a:r>
          </a:p>
          <a:p>
            <a:pPr algn="ctr">
              <a:defRPr sz="1100" b="1">
                <a:solidFill>
                  <a:srgbClr val="00897B"/>
                </a:solidFill>
              </a:defRPr>
            </a:pPr>
            <a:r>
              <a:rPr lang="en-GB" dirty="0"/>
              <a:t>MAX WAIT TIME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733FACF-47F5-C1CE-6FA1-65E480D9E7A8}"/>
              </a:ext>
            </a:extLst>
          </p:cNvPr>
          <p:cNvSpPr txBox="1">
            <a:spLocks/>
          </p:cNvSpPr>
          <p:nvPr/>
        </p:nvSpPr>
        <p:spPr>
          <a:xfrm>
            <a:off x="1469570" y="365125"/>
            <a:ext cx="98858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26A69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Core KPIs</a:t>
            </a:r>
            <a:endParaRPr lang="en-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7FB8751-88C1-2AF8-A3FC-BAEA1EBB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 </a:t>
            </a:r>
            <a:r>
              <a:rPr lang="en-GB" sz="2400" dirty="0"/>
              <a:t>(Appointments Flow and Capacity Allocation)</a:t>
            </a:r>
            <a:endParaRPr lang="en-N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90A311-945E-BEEC-1578-312A364D6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6558" y="4988689"/>
            <a:ext cx="5157787" cy="1278159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Paediatrics recorded 494 appointments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This is followed by Orthopaedics (405).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These three departments account for about 65% of all appointments.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E87740-313F-9CDC-7CDD-5576C74BD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2928" y="4988689"/>
            <a:ext cx="5503802" cy="1278159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Departmental</a:t>
            </a:r>
            <a:r>
              <a:rPr lang="en-GB" b="0" dirty="0"/>
              <a:t> workload is relatively balanced.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However, this is not enough to determine whether more doctors are needed.</a:t>
            </a:r>
            <a:endParaRPr lang="en-GB" b="0" dirty="0"/>
          </a:p>
        </p:txBody>
      </p:sp>
      <p:pic>
        <p:nvPicPr>
          <p:cNvPr id="41" name="Content Placeholder 40">
            <a:extLst>
              <a:ext uri="{FF2B5EF4-FFF2-40B4-BE49-F238E27FC236}">
                <a16:creationId xmlns:a16="http://schemas.microsoft.com/office/drawing/2014/main" id="{30CC87CA-6490-6ABF-D7E6-5CA27625CE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r="4108" b="5132"/>
          <a:stretch>
            <a:fillRect/>
          </a:stretch>
        </p:blipFill>
        <p:spPr>
          <a:xfrm>
            <a:off x="1122743" y="1869312"/>
            <a:ext cx="4363657" cy="2888352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3AE5B-FEAF-A138-62FD-F7AADA30CB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927" y="1869311"/>
            <a:ext cx="4836330" cy="2888352"/>
          </a:xfrm>
        </p:spPr>
      </p:pic>
    </p:spTree>
    <p:extLst>
      <p:ext uri="{BB962C8B-B14F-4D97-AF65-F5344CB8AC3E}">
        <p14:creationId xmlns:p14="http://schemas.microsoft.com/office/powerpoint/2010/main" val="295951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1DCF-5237-F4CC-D417-23C916B2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0467D33-1793-F383-4455-47A47CBB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</a:t>
            </a:r>
            <a:endParaRPr lang="en-N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AE47BA-6417-4216-EC32-970C52B8D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6558" y="4988689"/>
            <a:ext cx="5157787" cy="127815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More than 45% (789) of the completed appointments did not meet the department-specific waiting time target.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This is still a large percentage.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5F0B8D-9B7F-217F-1A5A-88C96DDC6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70" y="4988689"/>
            <a:ext cx="5183188" cy="127815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1,696 appointments were completed.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184 cancellations and 120 no-shows.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</p:txBody>
      </p:sp>
      <p:pic>
        <p:nvPicPr>
          <p:cNvPr id="45" name="Content Placeholder 44">
            <a:extLst>
              <a:ext uri="{FF2B5EF4-FFF2-40B4-BE49-F238E27FC236}">
                <a16:creationId xmlns:a16="http://schemas.microsoft.com/office/drawing/2014/main" id="{DDB40AC6-480D-E9E9-4C05-3304F5E0E8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6"/>
          <a:stretch>
            <a:fillRect/>
          </a:stretch>
        </p:blipFill>
        <p:spPr>
          <a:xfrm>
            <a:off x="6863921" y="1979271"/>
            <a:ext cx="3993132" cy="2728277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552FBB7-4A5D-7F00-1B4F-84EFCBA547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48" y="1869311"/>
            <a:ext cx="4197752" cy="2728277"/>
          </a:xfrm>
        </p:spPr>
      </p:pic>
    </p:spTree>
    <p:extLst>
      <p:ext uri="{BB962C8B-B14F-4D97-AF65-F5344CB8AC3E}">
        <p14:creationId xmlns:p14="http://schemas.microsoft.com/office/powerpoint/2010/main" val="1570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1D8B-7046-7755-3168-A82371BCC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EFAF7BC-DA52-33A4-4A65-B072B7AD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 </a:t>
            </a:r>
            <a:r>
              <a:rPr lang="en-GB" sz="2800" dirty="0"/>
              <a:t>(Monthly and Hourly patterns)</a:t>
            </a:r>
            <a:r>
              <a:rPr lang="en-GB" dirty="0"/>
              <a:t> </a:t>
            </a:r>
            <a:endParaRPr lang="en-NG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92D1B1-819B-8AB1-21D5-15C95F1BB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70" y="1770927"/>
            <a:ext cx="5183188" cy="449592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January is the busiest month (363 appointments)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February is the lowest (307).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Demand rises again through May before easing in June.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Saturday is the busiest day (308)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Friday is the lowest (269).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Appointment volume (240) peaks at 9am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is similar to average wait time at 9am. (However, the average wait time fluctuates from 19-22 mins).</a:t>
            </a:r>
            <a:endParaRPr lang="en-GB" b="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D52200B-9130-4647-E682-435AF156B2F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4" r="890" b="4296"/>
          <a:stretch>
            <a:fillRect/>
          </a:stretch>
        </p:blipFill>
        <p:spPr>
          <a:xfrm>
            <a:off x="659892" y="3347557"/>
            <a:ext cx="5119630" cy="165807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928146F-EFB3-22E9-5677-48B44DDB0B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4" r="2066" b="4296"/>
          <a:stretch>
            <a:fillRect/>
          </a:stretch>
        </p:blipFill>
        <p:spPr>
          <a:xfrm>
            <a:off x="725155" y="1560795"/>
            <a:ext cx="5076122" cy="165807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34BF6C-9352-5496-9BC0-AAB374F14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01" y="5134319"/>
            <a:ext cx="5076121" cy="145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4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B98B-8068-FD7A-1941-6B121B1F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53EFEFA-A6F7-BB9B-71EB-35F2B900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 </a:t>
            </a:r>
            <a:r>
              <a:rPr lang="en-GB" sz="2400" dirty="0"/>
              <a:t>(Department-level waiting-time performance)</a:t>
            </a:r>
            <a:r>
              <a:rPr lang="en-GB" sz="2700" dirty="0"/>
              <a:t> </a:t>
            </a:r>
            <a:endParaRPr lang="en-NG" sz="27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A42768A-9285-A796-C4AB-4F70FFF1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635" y="5106233"/>
            <a:ext cx="5157787" cy="1278159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Outpatients shows the greatest concern.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Emergency has the </a:t>
            </a:r>
            <a:r>
              <a:rPr lang="en-US" dirty="0"/>
              <a:t>strongest compliance with its target</a:t>
            </a:r>
            <a:r>
              <a:rPr lang="en-GB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However, its target wait time should be assessed, given the urgent nature of emergency care.</a:t>
            </a:r>
            <a:endParaRPr lang="en-NG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803957-B15D-1B64-4DB0-DC260A96C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047" y="5106233"/>
            <a:ext cx="5183188" cy="1278159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Outpatient: highest above-target appointments (61%)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Emergency: lowest above-target appointments (26%)</a:t>
            </a:r>
            <a:endParaRPr lang="en-N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3ACFA3-9505-F9B3-A7F1-56B688E64B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35" y="2055511"/>
            <a:ext cx="5088566" cy="2554796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E8D25B-A87D-5A68-EFE5-011FEA20ECF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279" y="2055509"/>
            <a:ext cx="4748888" cy="2554797"/>
          </a:xfrm>
        </p:spPr>
      </p:pic>
    </p:spTree>
    <p:extLst>
      <p:ext uri="{BB962C8B-B14F-4D97-AF65-F5344CB8AC3E}">
        <p14:creationId xmlns:p14="http://schemas.microsoft.com/office/powerpoint/2010/main" val="343556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8086-C009-9716-F700-57848D08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29F5729-3D40-31DB-21FE-8078A254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 </a:t>
            </a:r>
            <a:r>
              <a:rPr lang="en-GB" sz="2400" dirty="0"/>
              <a:t>(Doctors Workload and Availability)</a:t>
            </a:r>
            <a:r>
              <a:rPr lang="en-GB" dirty="0"/>
              <a:t>  </a:t>
            </a:r>
            <a:endParaRPr lang="en-NG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741B5A-23FD-66C9-B17E-994BC80B4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50841"/>
            <a:ext cx="5183188" cy="1278159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Workload is uneven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Varying from 64 -100 appointment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Dr E5: highest workload / part-time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Dr H8: lowest workload/ full-time</a:t>
            </a:r>
            <a:endParaRPr lang="en-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B0C694-2B54-DE4E-4BD0-93461A186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553428"/>
            <a:ext cx="5183188" cy="2939445"/>
          </a:xfrm>
        </p:spPr>
        <p:txBody>
          <a:bodyPr>
            <a:noAutofit/>
          </a:bodyPr>
          <a:lstStyle/>
          <a:p>
            <a:r>
              <a:rPr lang="en-GB" sz="1700" dirty="0"/>
              <a:t>Scheduled capacity for each doctor ranges from 450-496 hours.</a:t>
            </a:r>
          </a:p>
          <a:p>
            <a:r>
              <a:rPr lang="en-GB" sz="1700" dirty="0"/>
              <a:t>However, recorded consultation duration was only 24-37 hours per doctor.</a:t>
            </a:r>
          </a:p>
          <a:p>
            <a:r>
              <a:rPr lang="en-GB" sz="1700" dirty="0"/>
              <a:t>Only a small portion of their scheduled working time was spent in recorded consultation.</a:t>
            </a:r>
          </a:p>
          <a:p>
            <a:r>
              <a:rPr lang="en-GB" sz="1700" dirty="0"/>
              <a:t>The remaining working hours may be spent on other clinical duties such as ward rounds.</a:t>
            </a:r>
          </a:p>
          <a:p>
            <a:r>
              <a:rPr lang="en-GB" sz="1700" dirty="0"/>
              <a:t>Long wait time may be driven by workflow factors or unrecorded activities.</a:t>
            </a:r>
            <a:endParaRPr lang="en-NG" sz="17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584FFBE-EFA0-4A11-5D90-A32D39FA4D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818582"/>
            <a:ext cx="4302546" cy="4674292"/>
          </a:xfrm>
        </p:spPr>
      </p:pic>
    </p:spTree>
    <p:extLst>
      <p:ext uri="{BB962C8B-B14F-4D97-AF65-F5344CB8AC3E}">
        <p14:creationId xmlns:p14="http://schemas.microsoft.com/office/powerpoint/2010/main" val="168114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B384-C4FF-6EA1-2CF3-FA751BC8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F1C92D-7127-8C66-FC9B-79866557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Insights </a:t>
            </a:r>
            <a:r>
              <a:rPr lang="en-GB" sz="2400" dirty="0"/>
              <a:t>(Patient Experience)</a:t>
            </a:r>
            <a:r>
              <a:rPr lang="en-GB" dirty="0"/>
              <a:t> </a:t>
            </a:r>
            <a:endParaRPr lang="en-N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F5FC75-0BF7-D61C-EEFD-251365912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635" y="5106233"/>
            <a:ext cx="5157787" cy="127815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About 18% of the feedback suggest a need for improvement.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16% cited long wait time.</a:t>
            </a:r>
            <a:endParaRPr lang="en-NG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7885147-8828-BB15-110C-E76EF569C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047" y="5106233"/>
            <a:ext cx="5183188" cy="127815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Orthopaedics and Emergency have the highest average rating at 3.1.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Radiology is lowest at 2.8</a:t>
            </a:r>
            <a:endParaRPr lang="en-NG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D3BFD0-5F67-4C79-73B9-F50659763A8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546" y="1856875"/>
            <a:ext cx="4394049" cy="2935416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EA57C2-F1CC-434E-EFEE-DFAB3A3ABA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37" y="1856875"/>
            <a:ext cx="4012975" cy="2935416"/>
          </a:xfrm>
        </p:spPr>
      </p:pic>
    </p:spTree>
    <p:extLst>
      <p:ext uri="{BB962C8B-B14F-4D97-AF65-F5344CB8AC3E}">
        <p14:creationId xmlns:p14="http://schemas.microsoft.com/office/powerpoint/2010/main" val="405024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4E0E-4873-7AF1-E963-E148EBD6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80BE-3D8D-3CA8-8335-6BAD7FEF7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Investigate the cause of delay by conducting a process review to determine whether delays come from late clinic start, registration, or doctor availability.</a:t>
            </a:r>
          </a:p>
          <a:p>
            <a:r>
              <a:rPr lang="en-GB" dirty="0"/>
              <a:t>Standardize clinic workflows.</a:t>
            </a:r>
          </a:p>
          <a:p>
            <a:r>
              <a:rPr lang="en-GB" dirty="0"/>
              <a:t>Implement continuous performance monitoring.</a:t>
            </a:r>
          </a:p>
          <a:p>
            <a:r>
              <a:rPr lang="en-GB" dirty="0"/>
              <a:t>Reduce no-shows and cancellations through active reminders and better appointment-management process.</a:t>
            </a:r>
          </a:p>
          <a:p>
            <a:r>
              <a:rPr lang="en-GB" dirty="0"/>
              <a:t>Review appointment scheduling and capacity allocation based on doctor availability.</a:t>
            </a:r>
          </a:p>
          <a:p>
            <a:r>
              <a:rPr lang="en-GB" dirty="0"/>
              <a:t>Strengthen data quality controls.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53359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7B0DEA-9524-4E6F-D6AE-350113F7F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2" t="23795" r="32862" b="10112"/>
          <a:stretch>
            <a:fillRect/>
          </a:stretch>
        </p:blipFill>
        <p:spPr>
          <a:xfrm>
            <a:off x="0" y="-4830"/>
            <a:ext cx="12191999" cy="686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9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9502-55D0-3460-10BB-D2F129D8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83E2A7-D23C-9DF0-7C5D-EC986D54F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365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7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5202-24CA-7620-4F64-4AE93CDC2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8B9FC-74D6-8138-241B-1C3137FDC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1" t="23796" r="32952" b="1045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4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2B41-9171-8DC3-7548-E663CEB1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D04CC6-19A9-7598-1BDC-AA36307B7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t="23968" r="33042" b="1045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0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530</Words>
  <Application>Microsoft Office PowerPoint</Application>
  <PresentationFormat>Widescreen</PresentationFormat>
  <Paragraphs>77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Hospital Operations and Patient Flow Analytics</vt:lpstr>
      <vt:lpstr>Business Questions</vt:lpstr>
      <vt:lpstr>Methodology</vt:lpstr>
      <vt:lpstr>PowerPoint Presentation</vt:lpstr>
      <vt:lpstr>Data Insights (Appointments Flow and Capacity Allocation)</vt:lpstr>
      <vt:lpstr>Data Insights</vt:lpstr>
      <vt:lpstr>Data Insights (Monthly and Hourly patterns) </vt:lpstr>
      <vt:lpstr>Data Insights (Department-level waiting-time performance) </vt:lpstr>
      <vt:lpstr>Data Insights (Doctors Workload and Availability)  </vt:lpstr>
      <vt:lpstr>Data Insights (Patient Experience) </vt:lpstr>
      <vt:lpstr>Recommendations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Ademijube</dc:creator>
  <cp:lastModifiedBy>Victoria Ademijube</cp:lastModifiedBy>
  <cp:revision>45</cp:revision>
  <dcterms:created xsi:type="dcterms:W3CDTF">2026-08-28T14:01:14Z</dcterms:created>
  <dcterms:modified xsi:type="dcterms:W3CDTF">2026-09-19T13:59:24Z</dcterms:modified>
</cp:coreProperties>
</file>